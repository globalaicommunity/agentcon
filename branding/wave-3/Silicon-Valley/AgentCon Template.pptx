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65" r:id="rId2"/>
    <p:sldId id="270" r:id="rId3"/>
    <p:sldId id="271" r:id="rId4"/>
    <p:sldId id="264" r:id="rId5"/>
    <p:sldId id="266" r:id="rId6"/>
    <p:sldId id="267" r:id="rId7"/>
    <p:sldId id="272" r:id="rId8"/>
    <p:sldId id="269" r:id="rId9"/>
    <p:sldId id="258" r:id="rId10"/>
    <p:sldId id="263" r:id="rId11"/>
    <p:sldId id="261" r:id="rId12"/>
    <p:sldId id="256" r:id="rId13"/>
    <p:sldId id="260" r:id="rId14"/>
    <p:sldId id="257" r:id="rId15"/>
    <p:sldId id="259" r:id="rId16"/>
    <p:sldId id="262" r:id="rId17"/>
  </p:sldIdLst>
  <p:sldSz cx="12192000" cy="6858000"/>
  <p:notesSz cx="6858000" cy="9144000"/>
  <p:embeddedFontLst>
    <p:embeddedFont>
      <p:font typeface="Lufga" panose="00000500000000000000" pitchFamily="50" charset="0"/>
      <p:regular r:id="rId20"/>
      <p:bold r:id="rId21"/>
      <p:italic r:id="rId22"/>
      <p:boldItalic r:id="rId23"/>
    </p:embeddedFont>
    <p:embeddedFont>
      <p:font typeface="Montserrat" panose="00000500000000000000" pitchFamily="50" charset="0"/>
      <p:regular r:id="rId24"/>
      <p:bold r:id="rId25"/>
      <p:italic r:id="rId26"/>
      <p:boldItalic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DD7C0"/>
    <a:srgbClr val="665649"/>
    <a:srgbClr val="1321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>
        <p:scale>
          <a:sx n="66" d="100"/>
          <a:sy n="66" d="100"/>
        </p:scale>
        <p:origin x="1416" y="9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8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85B94FC-C394-660C-315C-2CC6BFE5D7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A7FDF9-F2C3-1D78-E928-EA2CC7C8674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2E83D4-0712-4B80-9A04-DAA4D13CDEEA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B752DA-6700-D9D3-415A-36AA855FE15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5558E0-45CC-0E4C-EB32-643F62E1279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B0559A-D670-4967-8855-A892FB9B94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5278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987D1C-95F8-4EC2-A8BC-B964CB04ED1E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89F342-0359-4B02-A5FB-CCB8A82A50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499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89F342-0359-4B02-A5FB-CCB8A82A50B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254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A7DCA-9B05-7609-52B3-05F8E7DCDF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033DBA-F3FE-5686-FE62-ED0E7BCF12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1D1CAA-6E08-D0FA-1807-9EBBC3727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8634D-DBAD-3296-AEB7-933993D44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397187-6D2E-BB6D-76F9-07949E2BA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057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D1D7B-AC56-2FE8-27D2-995423708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D526F-2FEB-AE63-544C-F91CAAEA5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DB4D70-52BC-19B1-41CD-598204408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D85F9-09EC-9FD7-E247-DE60AF55E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5131B2-E759-BAC9-593A-A9A59DDC0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8C305EC-6B0E-C106-C7C3-C21594509DDC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30E74C-4634-6B5C-023D-FF24C77B4126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959005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665F4-2907-AEC7-746E-5A932191E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5DA72A-5C10-766D-80C0-579AE29C71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516EA6-2D5B-9A7E-B855-47737FFB2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AC68A-2FEC-8CC4-7E0A-BA30B321D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8D1C26-3F57-D5E1-E0EC-AF7C8F3EF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A60D85-C288-2E3B-B8F0-E43709F40D1A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C42EE8-02CA-BF54-F281-8CE989992960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894119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18CFF-A2A3-439C-34E2-A6A87D1E1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5EB1F-3FDC-BEEF-7B79-31A3AF830F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74DA9E-DC20-E015-883C-1AEB0FB95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D534F6-4D4F-20CC-3151-81E6C331C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13762-0CDA-8AF3-907A-ED80A5313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89C546-A983-4F5D-2014-6A73DBA64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0597CE-7346-4A80-7F21-5594BD0EB867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1313B7-7F9E-C4CC-31A1-A85242BDF637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030669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C6460-35C0-ACB8-1B64-BBBE4E3FB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CEEE1-2131-62A7-EF22-E7B59A62B5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E39260-F824-48DD-0829-9119B4D552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2AAF36-CDD7-5696-1212-0EDCB271AB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AFB544-E93D-97DA-AD49-EF0CA8C35C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DF75BA-991E-206F-496C-DFD2707BD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854900-E444-E153-AD7A-63021E2F8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A68BA3-887A-6A1D-7C94-C769FD957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8328CA-13D1-A7F5-8CCF-D31ECE645DA9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1A273F-BDB5-C307-5B3E-2EA49659763C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1091789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E8D07-5FD8-A047-32B2-24F0FD111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4DEDDC-6E7C-804A-9255-ABE3A2450B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664CB7-81BF-600A-AE0A-ECBA650F7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BC6CA2-1CE3-7196-7478-E5063C2FF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B24AF0-1003-FBF1-4BAC-72C69EDE3BF7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D32194-D1D2-0AD9-4BDE-8AC9915A0E7B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1702661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7F4658-E9A1-B8B7-FF6A-E3CC58EC3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B4538A-0898-047F-63F0-1645A59A4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BDA6F-B33D-21C0-6F52-F1939F106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880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7DCB3-9E3A-279F-D7E9-4335834F8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89BB8-E501-401E-6FA1-93A35211AF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9B6406-D51E-3CA4-F961-05B9C71D18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D33E94-FD8F-D103-6B89-877180069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C1CC59-B9E0-EB9D-F3B2-8BB207A7E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341619-2459-8EE5-F287-E5AC164F8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1BBFDA-E455-035E-CF34-558F979C54C9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D6F701-5E32-8CE8-4B18-BC1D01EF8622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514460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8BCE5-04A6-B727-8271-2AAFA8E67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AC506D-45B8-E192-896D-0E8EBB61A3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93B607-5EE6-CBE1-EE48-8956A921F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7EB89C-0BBE-C2C6-8B1E-6C799981D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BB8A89-5098-FE3E-E298-A91389275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F9875D-3849-56F2-4636-58A0DC6B0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73D969B-DE54-11C0-1DF1-5CA7EEB63F66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144305-758C-24CA-515B-B32AA5793B1A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1540980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D2AB2-597E-DA67-891A-BED08852A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F5DADA-E94A-32EE-4C97-F5824B323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CB63E-ABD9-3109-1C6D-FE923E30F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96D5B-B08C-796E-37C6-F5AF8E6AF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F8EDA9-9E14-503D-7FF0-DD6D669EB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CDFEA7-775B-5544-75BF-C7234CC9FA27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BA4F31-C261-5E36-694B-22FCB49CE0F0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2959319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584C18-2515-20B1-2FD3-313B2CEAB2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AEEA44-A443-120B-CCB5-BA86A6B736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E7C17E-31E5-B960-B849-14134626E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070270-E84E-4A05-BDBE-19BEB135420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53E416-76A8-C4BC-6692-4C0769813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45AD9D-13D2-1CDA-5A65-4868CC19F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83A543-B838-6D41-4BE1-5D34A14FAAFB}"/>
              </a:ext>
            </a:extLst>
          </p:cNvPr>
          <p:cNvSpPr/>
          <p:nvPr userDrawn="1"/>
        </p:nvSpPr>
        <p:spPr>
          <a:xfrm>
            <a:off x="0" y="6516777"/>
            <a:ext cx="12192000" cy="341223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AB65E1-973A-9BC6-2268-C05634B4E528}"/>
              </a:ext>
            </a:extLst>
          </p:cNvPr>
          <p:cNvSpPr txBox="1"/>
          <p:nvPr userDrawn="1"/>
        </p:nvSpPr>
        <p:spPr>
          <a:xfrm>
            <a:off x="8782333" y="6555331"/>
            <a:ext cx="3251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665649"/>
                </a:solidFill>
                <a:latin typeface="Lufga" panose="00000500000000000000" pitchFamily="50" charset="0"/>
              </a:rPr>
              <a:t>#AgentCon | @GlobalAICommunity</a:t>
            </a:r>
          </a:p>
        </p:txBody>
      </p:sp>
    </p:spTree>
    <p:extLst>
      <p:ext uri="{BB962C8B-B14F-4D97-AF65-F5344CB8AC3E}">
        <p14:creationId xmlns:p14="http://schemas.microsoft.com/office/powerpoint/2010/main" val="3787646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background with a silhouette of a city&#10;&#10;AI-generated content may be incorrect.">
            <a:extLst>
              <a:ext uri="{FF2B5EF4-FFF2-40B4-BE49-F238E27FC236}">
                <a16:creationId xmlns:a16="http://schemas.microsoft.com/office/drawing/2014/main" id="{0D591352-A335-556D-CB16-F1246919D76C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8CE2467-CD3D-F64F-142C-16A5BF370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00F78F-E5C4-55D8-CB66-DFDE0ACB08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B2741-B1B4-D865-8FAD-8181F9826C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070270-E84E-4A05-BDBE-19BEB135420D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C9036-EAEE-B51C-9AA7-712E218217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86DD56-594F-EE1D-E153-75801EDBD4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5EB02-4E5E-45C1-8772-57042DB49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006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665649"/>
          </a:solidFill>
          <a:latin typeface="Lufga" panose="00000500000000000000" pitchFamily="50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Lufga" panose="00000500000000000000" pitchFamily="50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microsoft.com/office/2007/relationships/hdphoto" Target="../media/hdphoto2.wdp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4.png"/><Relationship Id="rId3" Type="http://schemas.openxmlformats.org/officeDocument/2006/relationships/image" Target="../media/image11.png"/><Relationship Id="rId7" Type="http://schemas.openxmlformats.org/officeDocument/2006/relationships/image" Target="../media/image20.png"/><Relationship Id="rId12" Type="http://schemas.microsoft.com/office/2007/relationships/hdphoto" Target="../media/hdphoto5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11" Type="http://schemas.openxmlformats.org/officeDocument/2006/relationships/image" Target="../media/image23.png"/><Relationship Id="rId5" Type="http://schemas.openxmlformats.org/officeDocument/2006/relationships/image" Target="../media/image14.png"/><Relationship Id="rId15" Type="http://schemas.openxmlformats.org/officeDocument/2006/relationships/image" Target="../media/image26.png"/><Relationship Id="rId10" Type="http://schemas.openxmlformats.org/officeDocument/2006/relationships/image" Target="../media/image22.png"/><Relationship Id="rId4" Type="http://schemas.openxmlformats.org/officeDocument/2006/relationships/image" Target="../media/image13.png"/><Relationship Id="rId9" Type="http://schemas.microsoft.com/office/2007/relationships/hdphoto" Target="../media/hdphoto4.wdp"/><Relationship Id="rId1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E961B-98AF-2AB2-78FC-E30A230F1F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56DCED-9CC8-5B56-AB7E-804343D838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F45E74-2448-55E8-F256-73B32D3A1F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1168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91C3BC5-0DC8-187D-94DD-B005032CFC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1D9AA1D-334B-C817-3BED-1C272E49DB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095500" y="2679700"/>
            <a:ext cx="8001000" cy="400050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FEA81269-E670-2BDC-22B3-A21C0890E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AgentCon around the world</a:t>
            </a:r>
          </a:p>
        </p:txBody>
      </p:sp>
    </p:spTree>
    <p:extLst>
      <p:ext uri="{BB962C8B-B14F-4D97-AF65-F5344CB8AC3E}">
        <p14:creationId xmlns:p14="http://schemas.microsoft.com/office/powerpoint/2010/main" val="3118399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C88EF-3BD8-B30B-E40E-91DEF4D28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56FCD5-2365-F86A-ABA5-23EEEBCDB0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823"/>
            <a:ext cx="12188761" cy="6859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033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FAEF6-3E62-8850-70CE-E9779DB46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8B7FA56-123A-913A-EC0A-847C7CEE59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83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DBD57-4663-2833-AFD8-3EE170458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2074CDB2-65F7-7FE8-791B-D3E2354F64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765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4D3CE4-2F3A-4999-F7A7-804F26B7BF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056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21A11-B6E8-F622-43B2-EF79C0BF2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6F824D-BC62-328D-1BBB-1EA673E431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55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604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42BB3-7A24-2BE6-1458-13154A6BE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B9C82-99A8-E70D-DC1F-31522BF7F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Join the AI Conversation </a:t>
            </a:r>
            <a:br>
              <a:rPr lang="en-US" b="1" dirty="0"/>
            </a:br>
            <a:r>
              <a:rPr lang="en-US" b="1" dirty="0"/>
              <a:t>on Discord</a:t>
            </a:r>
          </a:p>
        </p:txBody>
      </p:sp>
      <p:pic>
        <p:nvPicPr>
          <p:cNvPr id="4" name="Picture 3" descr="A qr code with circles and circles&#10;&#10;AI-generated content may be incorrect.">
            <a:extLst>
              <a:ext uri="{FF2B5EF4-FFF2-40B4-BE49-F238E27FC236}">
                <a16:creationId xmlns:a16="http://schemas.microsoft.com/office/drawing/2014/main" id="{F5940F71-6DD7-8068-BDC0-0ED73CEEFE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5000" y="1957131"/>
            <a:ext cx="3302000" cy="3302000"/>
          </a:xfrm>
          <a:prstGeom prst="roundRect">
            <a:avLst>
              <a:gd name="adj" fmla="val 5932"/>
            </a:avLst>
          </a:prstGeom>
          <a:ln w="28575">
            <a:solidFill>
              <a:srgbClr val="DDD7C0"/>
            </a:solidFill>
          </a:ln>
          <a:effectLst>
            <a:outerShdw blurRad="63500" sx="102000" sy="102000" algn="ctr" rotWithShape="0">
              <a:schemeClr val="bg1">
                <a:lumMod val="50000"/>
                <a:alpha val="41000"/>
              </a:scheme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23F8971-DA18-B9F2-175C-607DC6973F58}"/>
              </a:ext>
            </a:extLst>
          </p:cNvPr>
          <p:cNvSpPr txBox="1"/>
          <p:nvPr/>
        </p:nvSpPr>
        <p:spPr>
          <a:xfrm>
            <a:off x="4713646" y="5664709"/>
            <a:ext cx="2764708" cy="523220"/>
          </a:xfrm>
          <a:prstGeom prst="rect">
            <a:avLst/>
          </a:prstGeom>
          <a:noFill/>
          <a:ln w="28575">
            <a:noFill/>
          </a:ln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665649"/>
                </a:solidFill>
                <a:latin typeface="Lufga" panose="00000500000000000000" pitchFamily="50" charset="0"/>
              </a:rPr>
              <a:t>gaic.io/discord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8A56C32-D26C-36EC-E078-472A9F17DF5D}"/>
              </a:ext>
            </a:extLst>
          </p:cNvPr>
          <p:cNvSpPr/>
          <p:nvPr/>
        </p:nvSpPr>
        <p:spPr>
          <a:xfrm>
            <a:off x="4584700" y="5664709"/>
            <a:ext cx="3009900" cy="523220"/>
          </a:xfrm>
          <a:prstGeom prst="roundRect">
            <a:avLst/>
          </a:prstGeom>
          <a:noFill/>
          <a:ln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4126987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949A5BC-7A3D-A9A2-F879-44D0551AD690}"/>
              </a:ext>
            </a:extLst>
          </p:cNvPr>
          <p:cNvSpPr/>
          <p:nvPr/>
        </p:nvSpPr>
        <p:spPr>
          <a:xfrm>
            <a:off x="0" y="-232229"/>
            <a:ext cx="12192000" cy="709023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84000">
                <a:srgbClr val="DDD7C0">
                  <a:alpha val="37000"/>
                  <a:lumMod val="82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7A9CCF-9090-91FE-650B-10AF4A837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Join the AI Conversation </a:t>
            </a:r>
            <a:br>
              <a:rPr lang="en-US" b="1" dirty="0"/>
            </a:br>
            <a:r>
              <a:rPr lang="en-US" b="1" dirty="0"/>
              <a:t>on Discord</a:t>
            </a:r>
          </a:p>
        </p:txBody>
      </p:sp>
      <p:pic>
        <p:nvPicPr>
          <p:cNvPr id="4" name="Picture 3" descr="A qr code with circles and circles&#10;&#10;AI-generated content may be incorrect.">
            <a:extLst>
              <a:ext uri="{FF2B5EF4-FFF2-40B4-BE49-F238E27FC236}">
                <a16:creationId xmlns:a16="http://schemas.microsoft.com/office/drawing/2014/main" id="{A960E958-EF62-2B2D-D095-EE57766258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8514" y="1720645"/>
            <a:ext cx="3774972" cy="3774972"/>
          </a:xfrm>
          <a:prstGeom prst="roundRect">
            <a:avLst>
              <a:gd name="adj" fmla="val 5932"/>
            </a:avLst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9EF87EE-D864-6761-9D9D-049F009FEE34}"/>
              </a:ext>
            </a:extLst>
          </p:cNvPr>
          <p:cNvSpPr txBox="1"/>
          <p:nvPr/>
        </p:nvSpPr>
        <p:spPr>
          <a:xfrm>
            <a:off x="3805084" y="5690109"/>
            <a:ext cx="493548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>
                <a:solidFill>
                  <a:srgbClr val="665649"/>
                </a:solidFill>
                <a:latin typeface="Lufga" panose="00000500000000000000" pitchFamily="50" charset="0"/>
              </a:rPr>
              <a:t>gaic.io/discord</a:t>
            </a:r>
          </a:p>
        </p:txBody>
      </p:sp>
    </p:spTree>
    <p:extLst>
      <p:ext uri="{BB962C8B-B14F-4D97-AF65-F5344CB8AC3E}">
        <p14:creationId xmlns:p14="http://schemas.microsoft.com/office/powerpoint/2010/main" val="30625742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E9373-CEC8-8B01-81ED-695E818A1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feedback matters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1BDD591-90B9-5258-F790-7F0C3EED6A1A}"/>
              </a:ext>
            </a:extLst>
          </p:cNvPr>
          <p:cNvSpPr/>
          <p:nvPr/>
        </p:nvSpPr>
        <p:spPr>
          <a:xfrm>
            <a:off x="4232422" y="2033894"/>
            <a:ext cx="3613720" cy="3137704"/>
          </a:xfrm>
          <a:prstGeom prst="roundRect">
            <a:avLst/>
          </a:prstGeom>
          <a:noFill/>
          <a:ln w="28575">
            <a:solidFill>
              <a:srgbClr val="DDD7C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206383-FF47-B4A8-408C-CE3A9F313DDE}"/>
              </a:ext>
            </a:extLst>
          </p:cNvPr>
          <p:cNvSpPr txBox="1"/>
          <p:nvPr/>
        </p:nvSpPr>
        <p:spPr>
          <a:xfrm>
            <a:off x="4411885" y="5613298"/>
            <a:ext cx="3368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665649"/>
                </a:solidFill>
                <a:latin typeface="Lufga" panose="00000500000000000000" pitchFamily="50" charset="0"/>
              </a:rPr>
              <a:t>Add feedback QR code here</a:t>
            </a:r>
          </a:p>
        </p:txBody>
      </p:sp>
    </p:spTree>
    <p:extLst>
      <p:ext uri="{BB962C8B-B14F-4D97-AF65-F5344CB8AC3E}">
        <p14:creationId xmlns:p14="http://schemas.microsoft.com/office/powerpoint/2010/main" val="16767593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3C58B17-D5C6-6279-6D2F-12B9FF77A8CA}"/>
              </a:ext>
            </a:extLst>
          </p:cNvPr>
          <p:cNvSpPr/>
          <p:nvPr/>
        </p:nvSpPr>
        <p:spPr>
          <a:xfrm>
            <a:off x="4404851" y="595246"/>
            <a:ext cx="3382298" cy="921789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D84015-4ACC-A791-2264-0955650027B1}"/>
              </a:ext>
            </a:extLst>
          </p:cNvPr>
          <p:cNvSpPr txBox="1"/>
          <p:nvPr/>
        </p:nvSpPr>
        <p:spPr>
          <a:xfrm>
            <a:off x="5830530" y="732974"/>
            <a:ext cx="18386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rgbClr val="665649"/>
                </a:solidFill>
              </a:rPr>
              <a:t>Welcome Note </a:t>
            </a:r>
          </a:p>
          <a:p>
            <a:pPr algn="ctr"/>
            <a:r>
              <a:rPr lang="en-US" dirty="0">
                <a:solidFill>
                  <a:srgbClr val="665649"/>
                </a:solidFill>
              </a:rPr>
              <a:t>Henk Boelman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998A68-6F0A-F096-0858-1AB58A30DF25}"/>
              </a:ext>
            </a:extLst>
          </p:cNvPr>
          <p:cNvSpPr txBox="1"/>
          <p:nvPr/>
        </p:nvSpPr>
        <p:spPr>
          <a:xfrm>
            <a:off x="4559315" y="732974"/>
            <a:ext cx="11560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665649"/>
                </a:solidFill>
              </a:rPr>
              <a:t>10:00 AM </a:t>
            </a:r>
          </a:p>
          <a:p>
            <a:r>
              <a:rPr lang="en-US" dirty="0">
                <a:solidFill>
                  <a:srgbClr val="665649"/>
                </a:solidFill>
              </a:rPr>
              <a:t>10:15 AM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A2DD6-F858-1CBC-BDA3-8BDD59B5D089}"/>
              </a:ext>
            </a:extLst>
          </p:cNvPr>
          <p:cNvCxnSpPr>
            <a:cxnSpLocks/>
          </p:cNvCxnSpPr>
          <p:nvPr/>
        </p:nvCxnSpPr>
        <p:spPr>
          <a:xfrm>
            <a:off x="5715401" y="732974"/>
            <a:ext cx="0" cy="609600"/>
          </a:xfrm>
          <a:prstGeom prst="line">
            <a:avLst/>
          </a:prstGeom>
          <a:ln w="28575">
            <a:solidFill>
              <a:srgbClr val="DDD7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E7A347F-7288-EAD7-7534-D4C6D5096DF5}"/>
              </a:ext>
            </a:extLst>
          </p:cNvPr>
          <p:cNvSpPr/>
          <p:nvPr/>
        </p:nvSpPr>
        <p:spPr>
          <a:xfrm>
            <a:off x="3397045" y="1937349"/>
            <a:ext cx="5397910" cy="921789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879268-8979-B197-130B-71594E0ACA00}"/>
              </a:ext>
            </a:extLst>
          </p:cNvPr>
          <p:cNvSpPr txBox="1"/>
          <p:nvPr/>
        </p:nvSpPr>
        <p:spPr>
          <a:xfrm>
            <a:off x="4963465" y="2075077"/>
            <a:ext cx="41885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rgbClr val="665649"/>
                </a:solidFill>
              </a:rPr>
              <a:t>Keynote</a:t>
            </a:r>
          </a:p>
          <a:p>
            <a:pPr algn="ctr"/>
            <a:r>
              <a:rPr lang="en-US" dirty="0">
                <a:solidFill>
                  <a:srgbClr val="665649"/>
                </a:solidFill>
              </a:rPr>
              <a:t>Patrick Chanezon &amp; Dona Sarkar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3DDDE0-0455-84DC-4AAA-45174821D148}"/>
              </a:ext>
            </a:extLst>
          </p:cNvPr>
          <p:cNvSpPr txBox="1"/>
          <p:nvPr/>
        </p:nvSpPr>
        <p:spPr>
          <a:xfrm>
            <a:off x="3978180" y="2075077"/>
            <a:ext cx="11560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665649"/>
                </a:solidFill>
              </a:rPr>
              <a:t>10:15 AM </a:t>
            </a:r>
          </a:p>
          <a:p>
            <a:r>
              <a:rPr lang="en-US" dirty="0">
                <a:solidFill>
                  <a:srgbClr val="665649"/>
                </a:solidFill>
              </a:rPr>
              <a:t>10:55 AM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0165EDC-BB3F-C597-85E8-A999F8342766}"/>
              </a:ext>
            </a:extLst>
          </p:cNvPr>
          <p:cNvCxnSpPr>
            <a:cxnSpLocks/>
          </p:cNvCxnSpPr>
          <p:nvPr/>
        </p:nvCxnSpPr>
        <p:spPr>
          <a:xfrm>
            <a:off x="5233621" y="2075077"/>
            <a:ext cx="0" cy="609600"/>
          </a:xfrm>
          <a:prstGeom prst="line">
            <a:avLst/>
          </a:prstGeom>
          <a:ln w="28575">
            <a:solidFill>
              <a:srgbClr val="DDD7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EB55084-4C5A-D59E-E934-119341D37491}"/>
              </a:ext>
            </a:extLst>
          </p:cNvPr>
          <p:cNvCxnSpPr>
            <a:cxnSpLocks/>
            <a:stCxn id="4" idx="2"/>
            <a:endCxn id="14" idx="0"/>
          </p:cNvCxnSpPr>
          <p:nvPr/>
        </p:nvCxnSpPr>
        <p:spPr>
          <a:xfrm>
            <a:off x="6096000" y="1517035"/>
            <a:ext cx="0" cy="420314"/>
          </a:xfrm>
          <a:prstGeom prst="straightConnector1">
            <a:avLst/>
          </a:prstGeom>
          <a:ln w="28575">
            <a:solidFill>
              <a:srgbClr val="66564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DAC2D87-E6FC-3367-E6CE-7D11CFBF964F}"/>
              </a:ext>
            </a:extLst>
          </p:cNvPr>
          <p:cNvSpPr/>
          <p:nvPr/>
        </p:nvSpPr>
        <p:spPr>
          <a:xfrm>
            <a:off x="1510482" y="3279452"/>
            <a:ext cx="2084439" cy="656319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A0D13E-3272-39E0-870B-D6FD8A9C9F44}"/>
              </a:ext>
            </a:extLst>
          </p:cNvPr>
          <p:cNvSpPr txBox="1"/>
          <p:nvPr/>
        </p:nvSpPr>
        <p:spPr>
          <a:xfrm>
            <a:off x="1453946" y="3438334"/>
            <a:ext cx="219750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HAHN AUDITORIUM</a:t>
            </a:r>
            <a:endParaRPr lang="en-US" sz="1600" dirty="0">
              <a:solidFill>
                <a:srgbClr val="665649"/>
              </a:solidFill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F7FA77A-D9D5-5087-0F87-F4580620B94F}"/>
              </a:ext>
            </a:extLst>
          </p:cNvPr>
          <p:cNvSpPr/>
          <p:nvPr/>
        </p:nvSpPr>
        <p:spPr>
          <a:xfrm>
            <a:off x="3872682" y="3279452"/>
            <a:ext cx="2084439" cy="656319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F03068C-99F1-6D3F-0397-88B1A95B66CD}"/>
              </a:ext>
            </a:extLst>
          </p:cNvPr>
          <p:cNvSpPr/>
          <p:nvPr/>
        </p:nvSpPr>
        <p:spPr>
          <a:xfrm>
            <a:off x="6234882" y="3279452"/>
            <a:ext cx="2084439" cy="656319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7E53AC7B-2C22-BA2F-77A9-7AE194AF404A}"/>
              </a:ext>
            </a:extLst>
          </p:cNvPr>
          <p:cNvSpPr/>
          <p:nvPr/>
        </p:nvSpPr>
        <p:spPr>
          <a:xfrm>
            <a:off x="8597082" y="3279452"/>
            <a:ext cx="2084439" cy="656319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Connector: Curved 43">
            <a:extLst>
              <a:ext uri="{FF2B5EF4-FFF2-40B4-BE49-F238E27FC236}">
                <a16:creationId xmlns:a16="http://schemas.microsoft.com/office/drawing/2014/main" id="{65A31507-CD2B-9F5E-0651-F8B3CC6E0A69}"/>
              </a:ext>
            </a:extLst>
          </p:cNvPr>
          <p:cNvCxnSpPr>
            <a:endCxn id="23" idx="0"/>
          </p:cNvCxnSpPr>
          <p:nvPr/>
        </p:nvCxnSpPr>
        <p:spPr>
          <a:xfrm rot="10800000" flipV="1">
            <a:off x="2552702" y="2859138"/>
            <a:ext cx="3543298" cy="420314"/>
          </a:xfrm>
          <a:prstGeom prst="curvedConnector2">
            <a:avLst/>
          </a:prstGeom>
          <a:ln>
            <a:solidFill>
              <a:srgbClr val="665649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Curved 45">
            <a:extLst>
              <a:ext uri="{FF2B5EF4-FFF2-40B4-BE49-F238E27FC236}">
                <a16:creationId xmlns:a16="http://schemas.microsoft.com/office/drawing/2014/main" id="{EB7DC325-A70A-D120-DB0F-B81EEF0A5AC0}"/>
              </a:ext>
            </a:extLst>
          </p:cNvPr>
          <p:cNvCxnSpPr>
            <a:cxnSpLocks/>
            <a:stCxn id="14" idx="2"/>
          </p:cNvCxnSpPr>
          <p:nvPr/>
        </p:nvCxnSpPr>
        <p:spPr>
          <a:xfrm rot="5400000">
            <a:off x="5277409" y="2496631"/>
            <a:ext cx="456085" cy="1181099"/>
          </a:xfrm>
          <a:prstGeom prst="curvedConnector3">
            <a:avLst/>
          </a:prstGeom>
          <a:ln>
            <a:solidFill>
              <a:srgbClr val="665649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Curved 47">
            <a:extLst>
              <a:ext uri="{FF2B5EF4-FFF2-40B4-BE49-F238E27FC236}">
                <a16:creationId xmlns:a16="http://schemas.microsoft.com/office/drawing/2014/main" id="{6D8CCE87-7EC1-81AB-5421-3BBE9E8C1F51}"/>
              </a:ext>
            </a:extLst>
          </p:cNvPr>
          <p:cNvCxnSpPr>
            <a:endCxn id="35" idx="0"/>
          </p:cNvCxnSpPr>
          <p:nvPr/>
        </p:nvCxnSpPr>
        <p:spPr>
          <a:xfrm>
            <a:off x="6096000" y="2859138"/>
            <a:ext cx="1181102" cy="420314"/>
          </a:xfrm>
          <a:prstGeom prst="curvedConnector2">
            <a:avLst/>
          </a:prstGeom>
          <a:ln>
            <a:solidFill>
              <a:srgbClr val="66564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Curved 49">
            <a:extLst>
              <a:ext uri="{FF2B5EF4-FFF2-40B4-BE49-F238E27FC236}">
                <a16:creationId xmlns:a16="http://schemas.microsoft.com/office/drawing/2014/main" id="{E17FD592-1793-BC4D-4F2F-FF6678D28A3A}"/>
              </a:ext>
            </a:extLst>
          </p:cNvPr>
          <p:cNvCxnSpPr>
            <a:cxnSpLocks/>
          </p:cNvCxnSpPr>
          <p:nvPr/>
        </p:nvCxnSpPr>
        <p:spPr>
          <a:xfrm>
            <a:off x="6096000" y="2859138"/>
            <a:ext cx="3543301" cy="456085"/>
          </a:xfrm>
          <a:prstGeom prst="curvedConnector2">
            <a:avLst/>
          </a:prstGeom>
          <a:ln>
            <a:solidFill>
              <a:srgbClr val="66564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AE066BDA-C459-4A37-A195-072C16041B69}"/>
              </a:ext>
            </a:extLst>
          </p:cNvPr>
          <p:cNvSpPr/>
          <p:nvPr/>
        </p:nvSpPr>
        <p:spPr>
          <a:xfrm>
            <a:off x="1510482" y="4202012"/>
            <a:ext cx="6808839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3B0BBD7-7E79-CB18-0718-3885852A1A07}"/>
              </a:ext>
            </a:extLst>
          </p:cNvPr>
          <p:cNvSpPr txBox="1"/>
          <p:nvPr/>
        </p:nvSpPr>
        <p:spPr>
          <a:xfrm>
            <a:off x="5081232" y="4242893"/>
            <a:ext cx="11798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Sessions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58DDB4C-3BAA-412E-4AE9-A93C5FF7EB6E}"/>
              </a:ext>
            </a:extLst>
          </p:cNvPr>
          <p:cNvSpPr txBox="1"/>
          <p:nvPr/>
        </p:nvSpPr>
        <p:spPr>
          <a:xfrm>
            <a:off x="2824423" y="4254667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11:00 PM – 12:30 PM</a:t>
            </a: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EEC75EEA-D14A-E38B-5293-F0144C999B6F}"/>
              </a:ext>
            </a:extLst>
          </p:cNvPr>
          <p:cNvSpPr/>
          <p:nvPr/>
        </p:nvSpPr>
        <p:spPr>
          <a:xfrm>
            <a:off x="1510482" y="4786787"/>
            <a:ext cx="6808839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2B8B39C-98E6-20C2-2157-C1334BC57AC0}"/>
              </a:ext>
            </a:extLst>
          </p:cNvPr>
          <p:cNvSpPr txBox="1"/>
          <p:nvPr/>
        </p:nvSpPr>
        <p:spPr>
          <a:xfrm>
            <a:off x="5081196" y="4827668"/>
            <a:ext cx="9008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Lunch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00C1239-246F-DE16-87D0-145A8C131517}"/>
              </a:ext>
            </a:extLst>
          </p:cNvPr>
          <p:cNvSpPr txBox="1"/>
          <p:nvPr/>
        </p:nvSpPr>
        <p:spPr>
          <a:xfrm>
            <a:off x="2824422" y="4839442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12:30 PM – 01:15 PM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1C4608-C197-0339-7539-53045119391E}"/>
              </a:ext>
            </a:extLst>
          </p:cNvPr>
          <p:cNvSpPr txBox="1"/>
          <p:nvPr/>
        </p:nvSpPr>
        <p:spPr>
          <a:xfrm>
            <a:off x="3816146" y="3438334"/>
            <a:ext cx="219750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BOOLE ROOM</a:t>
            </a:r>
            <a:endParaRPr lang="en-US" sz="1600" dirty="0">
              <a:solidFill>
                <a:srgbClr val="665649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504019-CDD0-EAD4-494A-A99369B02565}"/>
              </a:ext>
            </a:extLst>
          </p:cNvPr>
          <p:cNvSpPr txBox="1"/>
          <p:nvPr/>
        </p:nvSpPr>
        <p:spPr>
          <a:xfrm>
            <a:off x="6170726" y="3438334"/>
            <a:ext cx="219750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LOVELACE ROOM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7D18A1-C834-67AB-2DC1-691028A385CA}"/>
              </a:ext>
            </a:extLst>
          </p:cNvPr>
          <p:cNvSpPr txBox="1"/>
          <p:nvPr/>
        </p:nvSpPr>
        <p:spPr>
          <a:xfrm>
            <a:off x="8540546" y="4751014"/>
            <a:ext cx="219750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Sponsor booths and networking</a:t>
            </a: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BE962498-69E7-D28B-828B-F2C5D9394557}"/>
              </a:ext>
            </a:extLst>
          </p:cNvPr>
          <p:cNvSpPr/>
          <p:nvPr/>
        </p:nvSpPr>
        <p:spPr>
          <a:xfrm>
            <a:off x="1510482" y="5371562"/>
            <a:ext cx="6808839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58E7400-CE45-FBA1-082D-F9E11CCD0978}"/>
              </a:ext>
            </a:extLst>
          </p:cNvPr>
          <p:cNvSpPr txBox="1"/>
          <p:nvPr/>
        </p:nvSpPr>
        <p:spPr>
          <a:xfrm>
            <a:off x="5079943" y="5412443"/>
            <a:ext cx="11798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Sessions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E3A8851-42F9-F8D9-8C7A-C4B5FB991BF7}"/>
              </a:ext>
            </a:extLst>
          </p:cNvPr>
          <p:cNvSpPr txBox="1"/>
          <p:nvPr/>
        </p:nvSpPr>
        <p:spPr>
          <a:xfrm>
            <a:off x="2824421" y="5424217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01:15 PM – 04:40 PM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8A27965-C8FF-2EA6-BA2C-F47BDF073139}"/>
              </a:ext>
            </a:extLst>
          </p:cNvPr>
          <p:cNvSpPr/>
          <p:nvPr/>
        </p:nvSpPr>
        <p:spPr>
          <a:xfrm>
            <a:off x="8597082" y="4193147"/>
            <a:ext cx="2084439" cy="1598731"/>
          </a:xfrm>
          <a:prstGeom prst="roundRect">
            <a:avLst>
              <a:gd name="adj" fmla="val 4806"/>
            </a:avLst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DFEF549F-FB49-3E47-F202-998B26D7A333}"/>
              </a:ext>
            </a:extLst>
          </p:cNvPr>
          <p:cNvSpPr/>
          <p:nvPr/>
        </p:nvSpPr>
        <p:spPr>
          <a:xfrm>
            <a:off x="1510482" y="5956337"/>
            <a:ext cx="9171039" cy="420316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C6CA0C1-E9AD-349E-0B84-5DD329EFBCFB}"/>
              </a:ext>
            </a:extLst>
          </p:cNvPr>
          <p:cNvSpPr txBox="1"/>
          <p:nvPr/>
        </p:nvSpPr>
        <p:spPr>
          <a:xfrm>
            <a:off x="5134433" y="5997218"/>
            <a:ext cx="42853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The Grand Closing: Raffle &amp; Community Quiz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5A9BB1C-E269-8576-876E-853400C1B8AD}"/>
              </a:ext>
            </a:extLst>
          </p:cNvPr>
          <p:cNvSpPr txBox="1"/>
          <p:nvPr/>
        </p:nvSpPr>
        <p:spPr>
          <a:xfrm>
            <a:off x="2972416" y="6008992"/>
            <a:ext cx="25330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665649"/>
                </a:solidFill>
              </a:rPr>
              <a:t>05:00 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E9F617-720D-489D-3171-4087820E8909}"/>
              </a:ext>
            </a:extLst>
          </p:cNvPr>
          <p:cNvSpPr txBox="1"/>
          <p:nvPr/>
        </p:nvSpPr>
        <p:spPr>
          <a:xfrm>
            <a:off x="8525999" y="3438334"/>
            <a:ext cx="219750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665649"/>
                </a:solidFill>
              </a:rPr>
              <a:t>HALLWAY TRACK</a:t>
            </a:r>
          </a:p>
        </p:txBody>
      </p:sp>
    </p:spTree>
    <p:extLst>
      <p:ext uri="{BB962C8B-B14F-4D97-AF65-F5344CB8AC3E}">
        <p14:creationId xmlns:p14="http://schemas.microsoft.com/office/powerpoint/2010/main" val="38618638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EDD5B3F-B5B8-1229-A3FF-B1499D509537}"/>
              </a:ext>
            </a:extLst>
          </p:cNvPr>
          <p:cNvSpPr/>
          <p:nvPr/>
        </p:nvSpPr>
        <p:spPr>
          <a:xfrm>
            <a:off x="0" y="6273226"/>
            <a:ext cx="12192000" cy="584774"/>
          </a:xfrm>
          <a:prstGeom prst="rect">
            <a:avLst/>
          </a:prstGeom>
          <a:solidFill>
            <a:srgbClr val="DDD7C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A18D89-26EB-FE52-040C-E3BA800F3ADC}"/>
              </a:ext>
            </a:extLst>
          </p:cNvPr>
          <p:cNvSpPr txBox="1"/>
          <p:nvPr/>
        </p:nvSpPr>
        <p:spPr>
          <a:xfrm>
            <a:off x="2064774" y="4345761"/>
            <a:ext cx="8395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665649"/>
                </a:solidFill>
                <a:latin typeface="Lufga" panose="00000500000000000000" pitchFamily="50" charset="0"/>
              </a:rPr>
              <a:t>Part of the </a:t>
            </a:r>
            <a:r>
              <a:rPr lang="en-US" b="1" dirty="0" err="1">
                <a:solidFill>
                  <a:srgbClr val="665649"/>
                </a:solidFill>
                <a:latin typeface="Lufga" panose="00000500000000000000" pitchFamily="50" charset="0"/>
              </a:rPr>
              <a:t>AgentCon</a:t>
            </a:r>
            <a:r>
              <a:rPr lang="en-US" b="1" dirty="0">
                <a:solidFill>
                  <a:srgbClr val="665649"/>
                </a:solidFill>
                <a:latin typeface="Lufga" panose="00000500000000000000" pitchFamily="50" charset="0"/>
              </a:rPr>
              <a:t> World Tour by the Global AI Community</a:t>
            </a:r>
            <a:endParaRPr lang="en-US" dirty="0">
              <a:solidFill>
                <a:srgbClr val="665649"/>
              </a:solidFill>
              <a:latin typeface="Lufga" panose="00000500000000000000" pitchFamily="50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3BDAA9-33A4-C69A-4680-7E745CF32044}"/>
              </a:ext>
            </a:extLst>
          </p:cNvPr>
          <p:cNvSpPr txBox="1"/>
          <p:nvPr/>
        </p:nvSpPr>
        <p:spPr>
          <a:xfrm>
            <a:off x="2966775" y="4693903"/>
            <a:ext cx="659186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0" dirty="0">
                <a:solidFill>
                  <a:srgbClr val="665649"/>
                </a:solidFill>
                <a:effectLst/>
                <a:latin typeface="Lufga" panose="00000500000000000000" pitchFamily="50" charset="0"/>
              </a:rPr>
              <a:t>AI Agents Developer Conference</a:t>
            </a:r>
            <a:endParaRPr lang="en-US" sz="3200" dirty="0">
              <a:solidFill>
                <a:srgbClr val="665649"/>
              </a:solidFill>
              <a:latin typeface="Lufga" panose="00000500000000000000" pitchFamily="50" charset="0"/>
            </a:endParaRPr>
          </a:p>
        </p:txBody>
      </p:sp>
      <p:pic>
        <p:nvPicPr>
          <p:cNvPr id="21" name="Picture 20" descr="A close up of a logo&#10;&#10;AI-generated content may be incorrect.">
            <a:extLst>
              <a:ext uri="{FF2B5EF4-FFF2-40B4-BE49-F238E27FC236}">
                <a16:creationId xmlns:a16="http://schemas.microsoft.com/office/drawing/2014/main" id="{98AA9D08-177A-F4F5-5076-04853C88B3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6046" y="6401887"/>
            <a:ext cx="1246837" cy="360904"/>
          </a:xfrm>
          <a:prstGeom prst="rect">
            <a:avLst/>
          </a:prstGeom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94E7ADAA-DE31-531D-066F-BC16FB2A19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1561" y="6399619"/>
            <a:ext cx="1548878" cy="33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B6F2C676-7D78-FBA8-2C72-606D918200C3}"/>
              </a:ext>
            </a:extLst>
          </p:cNvPr>
          <p:cNvSpPr/>
          <p:nvPr/>
        </p:nvSpPr>
        <p:spPr>
          <a:xfrm>
            <a:off x="4478337" y="5438499"/>
            <a:ext cx="3235325" cy="530501"/>
          </a:xfrm>
          <a:prstGeom prst="roundRect">
            <a:avLst/>
          </a:prstGeom>
          <a:solidFill>
            <a:srgbClr val="13211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DD86411-84E4-2AF0-3ACF-D37FB98ADC75}"/>
              </a:ext>
            </a:extLst>
          </p:cNvPr>
          <p:cNvSpPr txBox="1"/>
          <p:nvPr/>
        </p:nvSpPr>
        <p:spPr>
          <a:xfrm>
            <a:off x="4570795" y="5509382"/>
            <a:ext cx="30504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0" dirty="0" err="1">
                <a:solidFill>
                  <a:srgbClr val="DDD7C0"/>
                </a:solidFill>
                <a:effectLst/>
                <a:latin typeface="Lufga" panose="00000500000000000000" pitchFamily="50" charset="0"/>
              </a:rPr>
              <a:t>agentcon.city</a:t>
            </a:r>
            <a:r>
              <a:rPr lang="en-US" i="0" dirty="0">
                <a:solidFill>
                  <a:srgbClr val="DDD7C0"/>
                </a:solidFill>
                <a:effectLst/>
                <a:latin typeface="Lufga" panose="00000500000000000000" pitchFamily="50" charset="0"/>
              </a:rPr>
              <a:t>/</a:t>
            </a:r>
            <a:r>
              <a:rPr lang="en-US" i="0" dirty="0" err="1">
                <a:solidFill>
                  <a:srgbClr val="DDD7C0"/>
                </a:solidFill>
                <a:effectLst/>
                <a:latin typeface="Lufga" panose="00000500000000000000" pitchFamily="50" charset="0"/>
              </a:rPr>
              <a:t>hong-kong</a:t>
            </a:r>
            <a:endParaRPr lang="en-US" dirty="0">
              <a:solidFill>
                <a:srgbClr val="DDD7C0"/>
              </a:solidFill>
              <a:latin typeface="Lufga" panose="00000500000000000000" pitchFamily="50" charset="0"/>
            </a:endParaRPr>
          </a:p>
        </p:txBody>
      </p:sp>
      <p:pic>
        <p:nvPicPr>
          <p:cNvPr id="1026" name="Picture 2" descr="HKIIT">
            <a:extLst>
              <a:ext uri="{FF2B5EF4-FFF2-40B4-BE49-F238E27FC236}">
                <a16:creationId xmlns:a16="http://schemas.microsoft.com/office/drawing/2014/main" id="{4865FD84-9D29-5AC6-59D6-CE80D2DDEA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449" y="6273226"/>
            <a:ext cx="1754325" cy="584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vePoint">
            <a:extLst>
              <a:ext uri="{FF2B5EF4-FFF2-40B4-BE49-F238E27FC236}">
                <a16:creationId xmlns:a16="http://schemas.microsoft.com/office/drawing/2014/main" id="{A94E983C-36A2-987C-F342-C842FF6C98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0693" y="6337450"/>
            <a:ext cx="1365261" cy="455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MaivenPoint">
            <a:extLst>
              <a:ext uri="{FF2B5EF4-FFF2-40B4-BE49-F238E27FC236}">
                <a16:creationId xmlns:a16="http://schemas.microsoft.com/office/drawing/2014/main" id="{7D6AD44E-2AFE-63BD-94E3-C845F38C60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6740" y="6273225"/>
            <a:ext cx="1634811" cy="544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0" descr="AgentCon - Hong Kong">
            <a:extLst>
              <a:ext uri="{FF2B5EF4-FFF2-40B4-BE49-F238E27FC236}">
                <a16:creationId xmlns:a16="http://schemas.microsoft.com/office/drawing/2014/main" id="{D1F2703B-3BEB-2E48-B19E-426170E16A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6633" y="333690"/>
            <a:ext cx="5758734" cy="3702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704245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C2887DB-9292-65C3-4636-4C87E67D2B89}"/>
              </a:ext>
            </a:extLst>
          </p:cNvPr>
          <p:cNvSpPr/>
          <p:nvPr/>
        </p:nvSpPr>
        <p:spPr>
          <a:xfrm>
            <a:off x="0" y="-232229"/>
            <a:ext cx="12192000" cy="709023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84000">
                <a:srgbClr val="DDD7C0">
                  <a:alpha val="37000"/>
                  <a:lumMod val="82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E5F4CAC-231A-92F8-40E8-800A91B7DD3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665649"/>
                </a:solidFill>
                <a:latin typeface="Lufga" panose="00000500000000000000" pitchFamily="50" charset="0"/>
                <a:ea typeface="+mj-ea"/>
                <a:cs typeface="+mj-cs"/>
              </a:defRPr>
            </a:lvl1pPr>
          </a:lstStyle>
          <a:p>
            <a:r>
              <a:rPr lang="en-US" b="1" dirty="0"/>
              <a:t>Code of Conduct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A9A91F-394A-CBB0-5F4D-27CBD3DD33E4}"/>
              </a:ext>
            </a:extLst>
          </p:cNvPr>
          <p:cNvSpPr txBox="1"/>
          <p:nvPr/>
        </p:nvSpPr>
        <p:spPr>
          <a:xfrm>
            <a:off x="975363" y="3906157"/>
            <a:ext cx="229261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>
                <a:solidFill>
                  <a:srgbClr val="665649"/>
                </a:solidFill>
                <a:latin typeface="Lufga" panose="00000500000000000000" pitchFamily="50" charset="0"/>
              </a:rPr>
              <a:t>Be Respectful &amp;</a:t>
            </a:r>
          </a:p>
          <a:p>
            <a:pPr algn="ctr"/>
            <a:r>
              <a:rPr lang="en-US" sz="2200" b="1" dirty="0">
                <a:solidFill>
                  <a:srgbClr val="665649"/>
                </a:solidFill>
                <a:latin typeface="Lufga" panose="00000500000000000000" pitchFamily="50" charset="0"/>
              </a:rPr>
              <a:t> Considerate</a:t>
            </a:r>
            <a:endParaRPr lang="en-US" sz="2200" dirty="0">
              <a:solidFill>
                <a:srgbClr val="665649"/>
              </a:solidFill>
              <a:latin typeface="Lufga" panose="00000500000000000000" pitchFamily="50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547F39-71FE-EDB4-9954-5366AAFC31F1}"/>
              </a:ext>
            </a:extLst>
          </p:cNvPr>
          <p:cNvSpPr txBox="1"/>
          <p:nvPr/>
        </p:nvSpPr>
        <p:spPr>
          <a:xfrm>
            <a:off x="4871945" y="3906157"/>
            <a:ext cx="247535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>
                <a:solidFill>
                  <a:srgbClr val="665649"/>
                </a:solidFill>
                <a:latin typeface="Lufga" panose="00000500000000000000" pitchFamily="50" charset="0"/>
              </a:rPr>
              <a:t>Show Empathy &amp;</a:t>
            </a:r>
          </a:p>
          <a:p>
            <a:pPr algn="ctr"/>
            <a:r>
              <a:rPr lang="en-US" sz="2200" b="1" dirty="0">
                <a:solidFill>
                  <a:srgbClr val="665649"/>
                </a:solidFill>
                <a:latin typeface="Lufga" panose="00000500000000000000" pitchFamily="50" charset="0"/>
              </a:rPr>
              <a:t> Kindness</a:t>
            </a:r>
            <a:endParaRPr lang="en-US" sz="2200" dirty="0">
              <a:solidFill>
                <a:srgbClr val="665649"/>
              </a:solidFill>
              <a:latin typeface="Lufga" panose="00000500000000000000" pitchFamily="50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51817E-20AD-ECCF-E2AF-294B58B79C71}"/>
              </a:ext>
            </a:extLst>
          </p:cNvPr>
          <p:cNvSpPr txBox="1"/>
          <p:nvPr/>
        </p:nvSpPr>
        <p:spPr>
          <a:xfrm>
            <a:off x="8951272" y="3913333"/>
            <a:ext cx="205537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200" b="1" dirty="0">
                <a:solidFill>
                  <a:srgbClr val="665649"/>
                </a:solidFill>
                <a:latin typeface="Lufga" panose="00000500000000000000" pitchFamily="50" charset="0"/>
              </a:rPr>
              <a:t>Foster </a:t>
            </a:r>
          </a:p>
          <a:p>
            <a:pPr algn="ctr"/>
            <a:r>
              <a:rPr lang="en-US" sz="2200" b="1" dirty="0">
                <a:solidFill>
                  <a:srgbClr val="665649"/>
                </a:solidFill>
                <a:latin typeface="Lufga" panose="00000500000000000000" pitchFamily="50" charset="0"/>
              </a:rPr>
              <a:t>Collaboration</a:t>
            </a:r>
            <a:endParaRPr lang="en-US" sz="2200" dirty="0">
              <a:solidFill>
                <a:srgbClr val="665649"/>
              </a:solidFill>
              <a:latin typeface="Lufga" panose="00000500000000000000" pitchFamily="50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F51F08-0487-A53F-580C-4537BCC685F7}"/>
              </a:ext>
            </a:extLst>
          </p:cNvPr>
          <p:cNvSpPr txBox="1"/>
          <p:nvPr/>
        </p:nvSpPr>
        <p:spPr>
          <a:xfrm>
            <a:off x="7899989" y="6354375"/>
            <a:ext cx="36263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 err="1">
                <a:solidFill>
                  <a:srgbClr val="665649"/>
                </a:solidFill>
                <a:latin typeface="Lufga" panose="00000500000000000000" pitchFamily="50" charset="0"/>
              </a:rPr>
              <a:t>globalai.community</a:t>
            </a:r>
            <a:r>
              <a:rPr lang="en-US" sz="1200" i="1" dirty="0">
                <a:solidFill>
                  <a:srgbClr val="665649"/>
                </a:solidFill>
                <a:latin typeface="Lufga" panose="00000500000000000000" pitchFamily="50" charset="0"/>
              </a:rPr>
              <a:t>/about/code-of-conduct/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6E13004-FF0B-CC4E-8B77-65C0FC33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3050" y="2474543"/>
            <a:ext cx="1325563" cy="132556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13DE4D8-A187-103E-63FB-74F0C9975A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4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1625" y="2527639"/>
            <a:ext cx="1219370" cy="121937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45972EE-B6A7-3F03-0582-923D8260717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4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9272" y="2527639"/>
            <a:ext cx="1219370" cy="1219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5036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BD108B67-F22A-6165-F22D-2D400DB19FF9}"/>
              </a:ext>
            </a:extLst>
          </p:cNvPr>
          <p:cNvSpPr/>
          <p:nvPr/>
        </p:nvSpPr>
        <p:spPr>
          <a:xfrm>
            <a:off x="0" y="-232229"/>
            <a:ext cx="12192000" cy="709023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84000">
                <a:srgbClr val="DDD7C0">
                  <a:alpha val="37000"/>
                  <a:lumMod val="82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8025D9-9EFA-C029-7C9A-7A113B49429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Made Possible by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51F9780-F21F-A33E-E1A5-2738E4B5A73C}"/>
              </a:ext>
            </a:extLst>
          </p:cNvPr>
          <p:cNvGrpSpPr/>
          <p:nvPr/>
        </p:nvGrpSpPr>
        <p:grpSpPr>
          <a:xfrm>
            <a:off x="658393" y="1998273"/>
            <a:ext cx="1865096" cy="673070"/>
            <a:chOff x="1790702" y="3072372"/>
            <a:chExt cx="3673173" cy="1325563"/>
          </a:xfrm>
        </p:grpSpPr>
        <p:pic>
          <p:nvPicPr>
            <p:cNvPr id="8" name="Picture 10">
              <a:extLst>
                <a:ext uri="{FF2B5EF4-FFF2-40B4-BE49-F238E27FC236}">
                  <a16:creationId xmlns:a16="http://schemas.microsoft.com/office/drawing/2014/main" id="{D8642C60-3FF5-C536-5521-012349436A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96857" y="3396742"/>
              <a:ext cx="3205264" cy="6844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8C21BD47-E4C0-5447-0297-F91ACF23EC20}"/>
                </a:ext>
              </a:extLst>
            </p:cNvPr>
            <p:cNvSpPr/>
            <p:nvPr/>
          </p:nvSpPr>
          <p:spPr>
            <a:xfrm>
              <a:off x="1790702" y="3072372"/>
              <a:ext cx="3673173" cy="1325563"/>
            </a:xfrm>
            <a:prstGeom prst="roundRect">
              <a:avLst/>
            </a:prstGeom>
            <a:noFill/>
            <a:ln w="38100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56422B8-944F-058B-49A7-31D3D2C011E0}"/>
              </a:ext>
            </a:extLst>
          </p:cNvPr>
          <p:cNvGrpSpPr/>
          <p:nvPr/>
        </p:nvGrpSpPr>
        <p:grpSpPr>
          <a:xfrm>
            <a:off x="2898644" y="1994950"/>
            <a:ext cx="1865096" cy="710006"/>
            <a:chOff x="6728126" y="4081199"/>
            <a:chExt cx="3673173" cy="1325563"/>
          </a:xfrm>
        </p:grpSpPr>
        <p:pic>
          <p:nvPicPr>
            <p:cNvPr id="6" name="Picture 5" descr="A close up of a logo&#10;&#10;AI-generated content may be incorrect.">
              <a:extLst>
                <a:ext uri="{FF2B5EF4-FFF2-40B4-BE49-F238E27FC236}">
                  <a16:creationId xmlns:a16="http://schemas.microsoft.com/office/drawing/2014/main" id="{3302B3EC-8C44-1009-30CA-48052F5167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95587" y="4410430"/>
              <a:ext cx="2700793" cy="781760"/>
            </a:xfrm>
            <a:prstGeom prst="rect">
              <a:avLst/>
            </a:prstGeom>
          </p:spPr>
        </p:pic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EC34A35-D1D0-4165-5380-8B90C75429EC}"/>
                </a:ext>
              </a:extLst>
            </p:cNvPr>
            <p:cNvSpPr/>
            <p:nvPr/>
          </p:nvSpPr>
          <p:spPr>
            <a:xfrm>
              <a:off x="6728126" y="4081199"/>
              <a:ext cx="3673173" cy="1325563"/>
            </a:xfrm>
            <a:prstGeom prst="roundRect">
              <a:avLst/>
            </a:prstGeom>
            <a:noFill/>
            <a:ln w="38100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8B756AD-89DB-43EB-CF1E-1E3037D9E978}"/>
              </a:ext>
            </a:extLst>
          </p:cNvPr>
          <p:cNvGrpSpPr/>
          <p:nvPr/>
        </p:nvGrpSpPr>
        <p:grpSpPr>
          <a:xfrm>
            <a:off x="5138895" y="1994950"/>
            <a:ext cx="1865096" cy="710006"/>
            <a:chOff x="6314277" y="1832972"/>
            <a:chExt cx="2170347" cy="826209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F3EB7EF-842B-23F6-E2D3-DB87039EC49D}"/>
                </a:ext>
              </a:extLst>
            </p:cNvPr>
            <p:cNvSpPr/>
            <p:nvPr/>
          </p:nvSpPr>
          <p:spPr>
            <a:xfrm>
              <a:off x="6314277" y="1832972"/>
              <a:ext cx="2170347" cy="826209"/>
            </a:xfrm>
            <a:prstGeom prst="roundRect">
              <a:avLst/>
            </a:prstGeom>
            <a:noFill/>
            <a:ln w="38100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7" name="Picture 2" descr="HKIIT">
              <a:extLst>
                <a:ext uri="{FF2B5EF4-FFF2-40B4-BE49-F238E27FC236}">
                  <a16:creationId xmlns:a16="http://schemas.microsoft.com/office/drawing/2014/main" id="{F0234D16-1399-4F63-6EE9-49389BABF81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29" t="14807" r="26658" b="13608"/>
            <a:stretch>
              <a:fillRect/>
            </a:stretch>
          </p:blipFill>
          <p:spPr bwMode="auto">
            <a:xfrm>
              <a:off x="6629399" y="1928812"/>
              <a:ext cx="1352551" cy="6453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D1FEA24-2A15-658B-3871-44DD9FEF527A}"/>
              </a:ext>
            </a:extLst>
          </p:cNvPr>
          <p:cNvGrpSpPr/>
          <p:nvPr/>
        </p:nvGrpSpPr>
        <p:grpSpPr>
          <a:xfrm>
            <a:off x="7379145" y="1994950"/>
            <a:ext cx="1865096" cy="710006"/>
            <a:chOff x="8921178" y="1832972"/>
            <a:chExt cx="2170347" cy="826209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62A25000-21A0-E31E-267B-13A327A6EBD6}"/>
                </a:ext>
              </a:extLst>
            </p:cNvPr>
            <p:cNvSpPr/>
            <p:nvPr/>
          </p:nvSpPr>
          <p:spPr>
            <a:xfrm>
              <a:off x="8921178" y="1832972"/>
              <a:ext cx="2170347" cy="826209"/>
            </a:xfrm>
            <a:prstGeom prst="roundRect">
              <a:avLst/>
            </a:prstGeom>
            <a:noFill/>
            <a:ln w="38100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8" name="Picture 4" descr="AvePoint">
              <a:extLst>
                <a:ext uri="{FF2B5EF4-FFF2-40B4-BE49-F238E27FC236}">
                  <a16:creationId xmlns:a16="http://schemas.microsoft.com/office/drawing/2014/main" id="{097AD5CD-5197-3294-09B6-7E626EACE4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43010" y="1887990"/>
              <a:ext cx="2148515" cy="7161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BB8DEE7-4F24-737C-7A3B-F0B66B772951}"/>
              </a:ext>
            </a:extLst>
          </p:cNvPr>
          <p:cNvGrpSpPr/>
          <p:nvPr/>
        </p:nvGrpSpPr>
        <p:grpSpPr>
          <a:xfrm>
            <a:off x="9620090" y="1979805"/>
            <a:ext cx="1913518" cy="710006"/>
            <a:chOff x="2957494" y="3155411"/>
            <a:chExt cx="2226693" cy="826209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DE01D5EE-62A6-09DC-8917-E7E791D5BC6E}"/>
                </a:ext>
              </a:extLst>
            </p:cNvPr>
            <p:cNvSpPr/>
            <p:nvPr/>
          </p:nvSpPr>
          <p:spPr>
            <a:xfrm>
              <a:off x="2957494" y="3155411"/>
              <a:ext cx="2170347" cy="826209"/>
            </a:xfrm>
            <a:prstGeom prst="roundRect">
              <a:avLst/>
            </a:prstGeom>
            <a:noFill/>
            <a:ln w="38100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3" name="Picture 8" descr="MaivenPoint">
              <a:extLst>
                <a:ext uri="{FF2B5EF4-FFF2-40B4-BE49-F238E27FC236}">
                  <a16:creationId xmlns:a16="http://schemas.microsoft.com/office/drawing/2014/main" id="{B7AFD78C-F2D0-11AC-D91F-CDCA221D89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7494" y="3194525"/>
              <a:ext cx="2226693" cy="742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4B0B1B4-98A7-8114-23D2-CF90A8444EB5}"/>
              </a:ext>
            </a:extLst>
          </p:cNvPr>
          <p:cNvSpPr/>
          <p:nvPr/>
        </p:nvSpPr>
        <p:spPr>
          <a:xfrm>
            <a:off x="1903361" y="3256922"/>
            <a:ext cx="1464679" cy="534655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2" name="Picture 4" descr="Singapore Global Network Logo">
            <a:extLst>
              <a:ext uri="{FF2B5EF4-FFF2-40B4-BE49-F238E27FC236}">
                <a16:creationId xmlns:a16="http://schemas.microsoft.com/office/drawing/2014/main" id="{26205BC3-1421-3290-81AB-A6BA68456F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0581" y="3313075"/>
            <a:ext cx="608699" cy="415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AB39B48-AECB-9382-A6CF-6216A4BCC89A}"/>
              </a:ext>
            </a:extLst>
          </p:cNvPr>
          <p:cNvSpPr/>
          <p:nvPr/>
        </p:nvSpPr>
        <p:spPr>
          <a:xfrm>
            <a:off x="4249994" y="3256922"/>
            <a:ext cx="1464679" cy="534655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DE2A5BC4-6487-B602-F44A-63A5BDA9DFF9}"/>
              </a:ext>
            </a:extLst>
          </p:cNvPr>
          <p:cNvSpPr/>
          <p:nvPr/>
        </p:nvSpPr>
        <p:spPr>
          <a:xfrm>
            <a:off x="6596627" y="3256921"/>
            <a:ext cx="1464679" cy="534655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F4C186F-0507-BA01-5FB2-548B083BBEB6}"/>
              </a:ext>
            </a:extLst>
          </p:cNvPr>
          <p:cNvSpPr/>
          <p:nvPr/>
        </p:nvSpPr>
        <p:spPr>
          <a:xfrm>
            <a:off x="8943260" y="3256920"/>
            <a:ext cx="1464679" cy="534655"/>
          </a:xfrm>
          <a:prstGeom prst="roundRect">
            <a:avLst/>
          </a:prstGeom>
          <a:noFill/>
          <a:ln w="28575">
            <a:solidFill>
              <a:srgbClr val="DDD7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4" name="Picture 6" descr="Hong Kong Azure User Group">
            <a:extLst>
              <a:ext uri="{FF2B5EF4-FFF2-40B4-BE49-F238E27FC236}">
                <a16:creationId xmlns:a16="http://schemas.microsoft.com/office/drawing/2014/main" id="{D11EBD0A-DF5C-67C8-A9B2-AE25A2DE46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052" r="30352" b="14823"/>
          <a:stretch>
            <a:fillRect/>
          </a:stretch>
        </p:blipFill>
        <p:spPr bwMode="auto">
          <a:xfrm>
            <a:off x="4651458" y="3272002"/>
            <a:ext cx="704767" cy="492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AWS Hong Kong User Group">
            <a:extLst>
              <a:ext uri="{FF2B5EF4-FFF2-40B4-BE49-F238E27FC236}">
                <a16:creationId xmlns:a16="http://schemas.microsoft.com/office/drawing/2014/main" id="{5C212294-1E22-0BA9-E3BA-5C5531AF87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7995" y="3324779"/>
            <a:ext cx="1162050" cy="38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AWS AI User Group">
            <a:extLst>
              <a:ext uri="{FF2B5EF4-FFF2-40B4-BE49-F238E27FC236}">
                <a16:creationId xmlns:a16="http://schemas.microsoft.com/office/drawing/2014/main" id="{BA42C538-036F-A490-FBB7-1284DC908D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43260" y="3285684"/>
            <a:ext cx="1464680" cy="488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18F89D21-C32E-E284-44D4-7B6F743D63A7}"/>
              </a:ext>
            </a:extLst>
          </p:cNvPr>
          <p:cNvGrpSpPr/>
          <p:nvPr/>
        </p:nvGrpSpPr>
        <p:grpSpPr>
          <a:xfrm>
            <a:off x="3186779" y="4343540"/>
            <a:ext cx="1464679" cy="534655"/>
            <a:chOff x="3186779" y="4179083"/>
            <a:chExt cx="1464679" cy="534655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3C6BEE88-4761-CCCB-9371-28154F9B5EA2}"/>
                </a:ext>
              </a:extLst>
            </p:cNvPr>
            <p:cNvSpPr/>
            <p:nvPr/>
          </p:nvSpPr>
          <p:spPr>
            <a:xfrm>
              <a:off x="3186779" y="4179083"/>
              <a:ext cx="1464679" cy="534655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F998CE5B-DDE0-35F0-0BD8-671753C583E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61309" y="4227139"/>
              <a:ext cx="1315617" cy="438539"/>
            </a:xfrm>
            <a:prstGeom prst="rect">
              <a:avLst/>
            </a:prstGeom>
          </p:spPr>
        </p:pic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408DAEE-4565-AC76-5967-ADF99A4132BA}"/>
              </a:ext>
            </a:extLst>
          </p:cNvPr>
          <p:cNvGrpSpPr/>
          <p:nvPr/>
        </p:nvGrpSpPr>
        <p:grpSpPr>
          <a:xfrm>
            <a:off x="5533412" y="4343540"/>
            <a:ext cx="1464679" cy="534655"/>
            <a:chOff x="5533412" y="4179083"/>
            <a:chExt cx="1464679" cy="534655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78192C9F-C880-4A43-0F2A-8A9843FE991D}"/>
                </a:ext>
              </a:extLst>
            </p:cNvPr>
            <p:cNvSpPr/>
            <p:nvPr/>
          </p:nvSpPr>
          <p:spPr>
            <a:xfrm>
              <a:off x="5533412" y="4179083"/>
              <a:ext cx="1464679" cy="534655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5A1C4DAF-F103-7FD3-6FCA-D51DEAA28B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30300" y="4236867"/>
              <a:ext cx="1242940" cy="414313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2406E-C345-0D26-27B5-AC73D74B2AB2}"/>
              </a:ext>
            </a:extLst>
          </p:cNvPr>
          <p:cNvGrpSpPr/>
          <p:nvPr/>
        </p:nvGrpSpPr>
        <p:grpSpPr>
          <a:xfrm>
            <a:off x="7880045" y="4343539"/>
            <a:ext cx="1464679" cy="534655"/>
            <a:chOff x="7880045" y="4179082"/>
            <a:chExt cx="1464679" cy="534655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63EC90C6-92EF-904D-942F-C0CB73EF9ED2}"/>
                </a:ext>
              </a:extLst>
            </p:cNvPr>
            <p:cNvSpPr/>
            <p:nvPr/>
          </p:nvSpPr>
          <p:spPr>
            <a:xfrm>
              <a:off x="7880045" y="4179082"/>
              <a:ext cx="1464679" cy="534655"/>
            </a:xfrm>
            <a:prstGeom prst="roundRect">
              <a:avLst/>
            </a:prstGeom>
            <a:noFill/>
            <a:ln w="28575">
              <a:solidFill>
                <a:srgbClr val="DDD7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2D31897A-13B8-96FE-3793-2C43E35C8D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80045" y="4203034"/>
              <a:ext cx="1445935" cy="48197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712238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791778-9303-0D99-C6B3-64A223D14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71394" y="-243114"/>
            <a:ext cx="18482010" cy="826951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889107C-2E67-7C0C-B1E5-FB158AD29918}"/>
              </a:ext>
            </a:extLst>
          </p:cNvPr>
          <p:cNvSpPr/>
          <p:nvPr/>
        </p:nvSpPr>
        <p:spPr>
          <a:xfrm>
            <a:off x="-1059543" y="-232230"/>
            <a:ext cx="14311086" cy="7344229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84000">
                <a:srgbClr val="DDD7C0">
                  <a:alpha val="37000"/>
                  <a:lumMod val="82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0CE66A-4A83-1D3F-663C-AA9008A97BF1}"/>
              </a:ext>
            </a:extLst>
          </p:cNvPr>
          <p:cNvSpPr txBox="1"/>
          <p:nvPr/>
        </p:nvSpPr>
        <p:spPr>
          <a:xfrm>
            <a:off x="5103153" y="2613392"/>
            <a:ext cx="1985694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0" b="1" i="0" dirty="0">
                <a:solidFill>
                  <a:srgbClr val="665649"/>
                </a:solidFill>
                <a:effectLst/>
                <a:latin typeface="Montserrat" panose="00000500000000000000" pitchFamily="50" charset="0"/>
              </a:rPr>
              <a:t>36</a:t>
            </a:r>
            <a:endParaRPr lang="en-US" sz="10000" dirty="0">
              <a:solidFill>
                <a:srgbClr val="665649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D414F5-03CA-8677-89B7-3EBA778462DA}"/>
              </a:ext>
            </a:extLst>
          </p:cNvPr>
          <p:cNvSpPr txBox="1"/>
          <p:nvPr/>
        </p:nvSpPr>
        <p:spPr>
          <a:xfrm>
            <a:off x="4597273" y="4049253"/>
            <a:ext cx="3069056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4500" b="1" i="0" dirty="0">
                <a:solidFill>
                  <a:srgbClr val="665649"/>
                </a:solidFill>
                <a:effectLst/>
                <a:latin typeface="Lufga" panose="00000500000000000000" pitchFamily="50" charset="0"/>
              </a:rPr>
              <a:t>Countries</a:t>
            </a:r>
            <a:endParaRPr lang="en-US" sz="4500" b="1" dirty="0">
              <a:solidFill>
                <a:srgbClr val="665649"/>
              </a:solidFill>
              <a:latin typeface="Lufga" panose="00000500000000000000" pitchFamily="50" charset="0"/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4E9AFD0-5D70-1386-6765-48169F88715A}"/>
              </a:ext>
            </a:extLst>
          </p:cNvPr>
          <p:cNvGrpSpPr/>
          <p:nvPr/>
        </p:nvGrpSpPr>
        <p:grpSpPr>
          <a:xfrm>
            <a:off x="8769380" y="2807545"/>
            <a:ext cx="2466757" cy="1437063"/>
            <a:chOff x="7490043" y="2827634"/>
            <a:chExt cx="2466757" cy="1437063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5684D1-29C7-5A8B-8B8D-E43A65BF4482}"/>
                </a:ext>
              </a:extLst>
            </p:cNvPr>
            <p:cNvSpPr txBox="1"/>
            <p:nvPr/>
          </p:nvSpPr>
          <p:spPr>
            <a:xfrm>
              <a:off x="7709200" y="2827634"/>
              <a:ext cx="1985694" cy="116955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7000" b="1" i="0" dirty="0">
                  <a:solidFill>
                    <a:srgbClr val="665649"/>
                  </a:solidFill>
                  <a:effectLst/>
                  <a:latin typeface="Montserrat" panose="00000500000000000000" pitchFamily="50" charset="0"/>
                </a:rPr>
                <a:t>468</a:t>
              </a:r>
              <a:endParaRPr lang="en-US" sz="7000" dirty="0">
                <a:solidFill>
                  <a:srgbClr val="665649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66A9572-0488-1DA5-1365-DD80D4905516}"/>
                </a:ext>
              </a:extLst>
            </p:cNvPr>
            <p:cNvSpPr txBox="1"/>
            <p:nvPr/>
          </p:nvSpPr>
          <p:spPr>
            <a:xfrm>
              <a:off x="7490043" y="3833810"/>
              <a:ext cx="2466757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buNone/>
              </a:pPr>
              <a:r>
                <a:rPr lang="en-US" sz="2200" b="1" dirty="0">
                  <a:solidFill>
                    <a:srgbClr val="665649"/>
                  </a:solidFill>
                  <a:latin typeface="Lufga" panose="00000500000000000000" pitchFamily="50" charset="0"/>
                </a:rPr>
                <a:t>Hours of content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5854878-FC47-6040-4F71-A341484F0724}"/>
              </a:ext>
            </a:extLst>
          </p:cNvPr>
          <p:cNvGrpSpPr/>
          <p:nvPr/>
        </p:nvGrpSpPr>
        <p:grpSpPr>
          <a:xfrm>
            <a:off x="1216911" y="2807545"/>
            <a:ext cx="2277311" cy="1437063"/>
            <a:chOff x="2716263" y="2792156"/>
            <a:chExt cx="2277311" cy="1437063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5BCF9F5-3078-0F06-4BF2-26022C823083}"/>
                </a:ext>
              </a:extLst>
            </p:cNvPr>
            <p:cNvSpPr txBox="1"/>
            <p:nvPr/>
          </p:nvSpPr>
          <p:spPr>
            <a:xfrm>
              <a:off x="2935420" y="2792156"/>
              <a:ext cx="1766537" cy="116955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7000" b="1" i="0" dirty="0">
                  <a:solidFill>
                    <a:srgbClr val="665649"/>
                  </a:solidFill>
                  <a:effectLst/>
                  <a:latin typeface="Montserrat" panose="00000500000000000000" pitchFamily="50" charset="0"/>
                </a:rPr>
                <a:t>67</a:t>
              </a:r>
              <a:endParaRPr lang="en-US" sz="7000" dirty="0">
                <a:solidFill>
                  <a:srgbClr val="665649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EE805E-4578-2091-AB05-6A23197DFCA0}"/>
                </a:ext>
              </a:extLst>
            </p:cNvPr>
            <p:cNvSpPr txBox="1"/>
            <p:nvPr/>
          </p:nvSpPr>
          <p:spPr>
            <a:xfrm>
              <a:off x="2716263" y="3798332"/>
              <a:ext cx="227731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buNone/>
              </a:pPr>
              <a:r>
                <a:rPr lang="en-US" sz="2200" b="1" i="0" dirty="0">
                  <a:solidFill>
                    <a:srgbClr val="665649"/>
                  </a:solidFill>
                  <a:effectLst/>
                  <a:latin typeface="Lufga" panose="00000500000000000000" pitchFamily="50" charset="0"/>
                </a:rPr>
                <a:t>Locations</a:t>
              </a:r>
              <a:endParaRPr lang="en-US" sz="2200" b="1" dirty="0">
                <a:solidFill>
                  <a:srgbClr val="665649"/>
                </a:solidFill>
                <a:latin typeface="Lufga" panose="00000500000000000000" pitchFamily="50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2C24AC4-8FBB-23FC-812B-822C77C1A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AgentCon Around the World</a:t>
            </a:r>
          </a:p>
        </p:txBody>
      </p:sp>
    </p:spTree>
    <p:extLst>
      <p:ext uri="{BB962C8B-B14F-4D97-AF65-F5344CB8AC3E}">
        <p14:creationId xmlns:p14="http://schemas.microsoft.com/office/powerpoint/2010/main" val="42323473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9615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463</TotalTime>
  <Words>153</Words>
  <Application>Microsoft Office PowerPoint</Application>
  <PresentationFormat>Widescreen</PresentationFormat>
  <Paragraphs>48</Paragraphs>
  <Slides>16</Slides>
  <Notes>1</Notes>
  <HiddenSlides>6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Aptos</vt:lpstr>
      <vt:lpstr>Montserrat</vt:lpstr>
      <vt:lpstr>Lufga</vt:lpstr>
      <vt:lpstr>Office Theme</vt:lpstr>
      <vt:lpstr>PowerPoint Presentation</vt:lpstr>
      <vt:lpstr>AgentCon around the world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Join the AI Conversation  on Discord</vt:lpstr>
      <vt:lpstr>Join the AI Conversation  on Discord</vt:lpstr>
      <vt:lpstr>Your feedback matters</vt:lpstr>
      <vt:lpstr>PowerPoint Presentation</vt:lpstr>
      <vt:lpstr>PowerPoint Presentation</vt:lpstr>
      <vt:lpstr>PowerPoint Presentation</vt:lpstr>
      <vt:lpstr>Made Possible by</vt:lpstr>
      <vt:lpstr>AgentCon Around the World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Stephen Simon</dc:creator>
  <cp:lastModifiedBy>Stephen SIMON</cp:lastModifiedBy>
  <cp:revision>8</cp:revision>
  <dcterms:created xsi:type="dcterms:W3CDTF">2026-01-27T07:16:52Z</dcterms:created>
  <dcterms:modified xsi:type="dcterms:W3CDTF">2026-05-04T07:15:42Z</dcterms:modified>
</cp:coreProperties>
</file>